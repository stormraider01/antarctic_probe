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6400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53128"/>
            <a:ext cx="12188952" cy="2404872"/>
          </a:xfrm>
          <a:prstGeom prst="rect">
            <a:avLst/>
          </a:prstGeom>
          <a:solidFill>
            <a:srgbClr val="08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Antarctic Microbial Sensor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6E0"/>
                </a:solidFill>
                <a:latin typeface="Calibri"/>
              </a:rPr>
              <a:t>Autonomous Marine Environmental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0C4D8"/>
                </a:solidFill>
                <a:latin typeface="Calibri"/>
              </a:rPr>
              <a:t>EEE4113F  ·  Group 14  ·  University of Cape Town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8DC"/>
                </a:solidFill>
                <a:latin typeface="Calibri"/>
              </a:rPr>
              <a:t>Devon Clark   ·   Joshua Naidoo   ·   Kiyuran Naidoo   ·   Saeed Solomon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90A8"/>
                </a:solidFill>
                <a:latin typeface="Calibri"/>
              </a:rPr>
              <a:t>Supervised by Dr Emma Rocke  ·  MARiS, 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090A8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Why does Antarctic marine monitoring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57784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THE OCEAN'S EARLY-WARNING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B3C"/>
                </a:solidFill>
                <a:latin typeface="Calibri"/>
              </a:rPr>
              <a:t>•  Marine microbes are the 'invisible engines' of the ocean ecosystem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B3C"/>
                </a:solidFill>
                <a:latin typeface="Calibri"/>
              </a:rPr>
              <a:t>•  They are the first biological indicators of climate change and pollution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B3C"/>
                </a:solidFill>
                <a:latin typeface="Calibri"/>
              </a:rPr>
              <a:t>•  Dr Emma Rocke (MARiS, UCT) studies microbial dynamics across Antarctic &amp; Southern Oceans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B3C"/>
                </a:solidFill>
                <a:latin typeface="Calibri"/>
              </a:rPr>
              <a:t>•  Early detection of harmful algal blooms requires continuous, high-resolution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577840" cy="5120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030"/>
                </a:solidFill>
                <a:latin typeface="Calibri"/>
              </a:rPr>
              <a:t>THE 'WINTER DATA GAP'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2B3C"/>
                </a:solidFill>
                <a:latin typeface="Calibri"/>
              </a:rPr>
              <a:t>•  Current practice relies on expensive, infrequent research cruises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B3C"/>
                </a:solidFill>
                <a:latin typeface="Calibri"/>
              </a:rPr>
              <a:t>•  Austral winter (-30 °C, expanding sea ice) makes the region inaccessible for months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B3C"/>
                </a:solidFill>
                <a:latin typeface="Calibri"/>
              </a:rPr>
              <a:t>•  This creates a critical 'winter data gap' — the time most valuable for early warnings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B3C"/>
                </a:solidFill>
                <a:latin typeface="Calibri"/>
              </a:rPr>
              <a:t>•  Human presence in the Antarctic is hazardous, costly, and logistically prohibitive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Design a low-cost, autonomous bipartite marine monitoring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94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794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①  Continuous Sensing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74519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3C"/>
                </a:solidFill>
                <a:latin typeface="Calibri"/>
              </a:rPr>
              <a:t>Acquire chlorophyll-a fluorescence, temperature, and depth as microbial community proxies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3794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3794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0876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②  Reliable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3C"/>
                </a:solidFill>
                <a:latin typeface="Calibri"/>
              </a:rPr>
              <a:t>Store sensor data in non-volatile memory under extreme sub-zero conditions during a dive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80360"/>
            <a:ext cx="3794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80360"/>
            <a:ext cx="3794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9260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③  Wireless Offload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29184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3C"/>
                </a:solidFill>
                <a:latin typeface="Calibri"/>
              </a:rPr>
              <a:t>Transfer stored data wirelessly to a researcher's laptop upon probe retrieval — no physical 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880360"/>
            <a:ext cx="3794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880360"/>
            <a:ext cx="3794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8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④  Offline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9184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3C"/>
                </a:solidFill>
                <a:latin typeface="Calibri"/>
              </a:rPr>
              <a:t>Process data locally using ML anomaly detection to identify ecological events — fully offline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97680"/>
            <a:ext cx="3794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297680"/>
            <a:ext cx="3794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3434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⑤  Annual Autonomy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70916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3C"/>
                </a:solidFill>
                <a:latin typeface="Calibri"/>
              </a:rPr>
              <a:t>Sustain operation for up to 12 months on a single primary battery without human maintenance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297680"/>
            <a:ext cx="3794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297680"/>
            <a:ext cx="3794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34340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⑥  Low Cost &amp; Safe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0916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B3C"/>
                </a:solidFill>
                <a:latin typeface="Calibri"/>
              </a:rPr>
              <a:t>Total component cost ≤ R2 000; hand-deployable by one non-specialist from a vessel of opportunity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A bipartite store-and-forward system deployed from vessels of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B3C"/>
                </a:solidFill>
                <a:latin typeface="Calibri"/>
              </a:rPr>
              <a:t>The system comprises two hardware nodes and one software platform. The submersible probe collects data autonomously underwater, then offloads wirelessly to a USB dongle connected to the researcher's laptop.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47472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34747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5856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SUBMERSIBLE PROBE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70048"/>
            <a:ext cx="3255263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ESP32-C6 (FireBeetle 2)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FRAM non-volatile storage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AS7341 spectral sensor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DS18B20 temperature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Pressure/depth sensor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Li-SOCl₂ primary battery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Thermal insulation shell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194560"/>
            <a:ext cx="347472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94560"/>
            <a:ext cx="3474720" cy="411480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25856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ESP-NOW WIRELESS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670048"/>
            <a:ext cx="3255263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Connectionless data-link protocol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100 m range; ultra-low power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CRC-16 packet integrity check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Reed switch wakeup from deep sleep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ACK/NACK retry mechanism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&lt; 60 s full data offload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194560"/>
            <a:ext cx="3474720" cy="42976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194560"/>
            <a:ext cx="34747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2258568"/>
            <a:ext cx="3291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MISSION CONTROL (LAPTOP)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2670048"/>
            <a:ext cx="3255263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Receiver dongle (ESP32-C6 via USB)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Python GUI (CustomTkinter)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Raw data table + interactive graphs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Isolation Forest + XAI anomaly detection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Save / load session files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100 % offline — no internet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2B3C"/>
                </a:solidFill>
                <a:latin typeface="Calibri"/>
              </a:rPr>
              <a:t>⇌  ESP-NOW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Subsystem 1 — Data Transfer &amp; Visualisation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Saeed Solomon  ·  ESP-NOW wireless protocol + Mission Control GUI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45720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PROTOCOL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NFC — ruled out: strict proximity &amp; orientation requirements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BLE — implemented but abandoned: ESP32-C6 stack immaturity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ESP-NOW — selected: proven reliability, 100 m range, ultra-low power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PROBE COMMAND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[CMD]:CONNECT — verify link, update battery level on GUI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[CMD]:PREPARE — reset FRAM, store session timestamp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[CMD]:RETRIEVE — stream all records with CRC-16 check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[CMD]:DISCONNECT — power down radio to conserve battery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949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42432"/>
            <a:ext cx="4206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1.2 % avg data error (spec: &lt; 5 %)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8 s wake-to-advertising (spec: &lt; 10 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All 7 ATPs passed</a:t>
            </a:r>
          </a:p>
        </p:txBody>
      </p:sp>
      <p:pic>
        <p:nvPicPr>
          <p:cNvPr id="14" name="Picture 13" descr="page25_im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6812280" cy="2468880"/>
          </a:xfrm>
          <a:prstGeom prst="rect">
            <a:avLst/>
          </a:prstGeom>
        </p:spPr>
      </p:pic>
      <p:pic>
        <p:nvPicPr>
          <p:cNvPr id="15" name="Picture 14" descr="page28_img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977639"/>
            <a:ext cx="681228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Mission Control GUI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Fully offline Python desktop application — CustomTkinter + Matplotlib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45720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KEY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Top toolbar shows connection status and battery percentage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Sidebar: Connect / Prepare Dive / Retrieve Data / Dev Mode / Save &amp; Load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Raw Data tab — scrollable table of all 14 sensor channels per record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Graph tab — interactive time-series with All Samples or per-Group view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Status log at the bottom prints timestamped system events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Anomaly markers (red dots) overlaid on graphs by the ML backend</a:t>
            </a:r>
          </a:p>
        </p:txBody>
      </p:sp>
      <p:pic>
        <p:nvPicPr>
          <p:cNvPr id="10" name="Picture 9" descr="page3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17320"/>
            <a:ext cx="6858000" cy="2423160"/>
          </a:xfrm>
          <a:prstGeom prst="rect">
            <a:avLst/>
          </a:prstGeom>
        </p:spPr>
      </p:pic>
      <p:pic>
        <p:nvPicPr>
          <p:cNvPr id="11" name="Picture 10" descr="page30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931920"/>
            <a:ext cx="6858000" cy="2560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74920" y="3858768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B8"/>
                </a:solidFill>
                <a:latin typeface="Calibri"/>
              </a:rPr>
              <a:t>Raw Data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8587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BB8"/>
                </a:solidFill>
                <a:latin typeface="Calibri"/>
              </a:rPr>
              <a:t>Graph tab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Subsystem 2 — Edge Architecture &amp;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Kiyuran Naidoo  ·  On-probe firmware lifecycle + offline ML anomaly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03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4-STATE FIRMWARE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STATE_IDLE — deep sleep on LP-IO, woken by magnetic reed switch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STATE_ARMED — sinking delay (15 min) before data acquisition begins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STATE_LOGGING — periodic measurement cycles; records written to FRAM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STATE_OFFLOAD — activates ESP-NOW; awaits [CMD]:RETRIEVE from GUI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4069080"/>
            <a:ext cx="5303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MEMORY — FERROELECTRIC RAM (FRAM)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98848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10 mA write current vs 100 mA for SD card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Operating range: -55 °C to +85 °C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Data preserved across deep sleep resets (RTC SRAM)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B3C"/>
                </a:solidFill>
                <a:latin typeface="Calibri"/>
              </a:rPr>
              <a:t>•  58-byte fixed MTU per record, 14 sensor values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5440680"/>
            <a:ext cx="53035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532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EXPLAINABLE AI (XAI)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Isolation Forest: anomaly isolation via random decision trees — O(n log n)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Post-hoc deterministic ruleset: classifies Phytoplankton / Cyanobacteria / CDOM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92 % accuracy, 0 false positives, ~0.008 s inference (spec: &lt; 2 s)</a:t>
            </a:r>
          </a:p>
        </p:txBody>
      </p:sp>
      <p:pic>
        <p:nvPicPr>
          <p:cNvPr id="16" name="Picture 15" descr="page7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417320"/>
            <a:ext cx="6080760" cy="37490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06440" y="5212080"/>
            <a:ext cx="6080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2B3C"/>
                </a:solidFill>
                <a:latin typeface="Calibri"/>
              </a:rPr>
              <a:t>Mission Control graph: 113 records with anomalies flagged in red by the MarineAnomalyDetector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Subsystem 3 — Power &amp; Thermal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Joshua Naidoo  ·  365-day autonomy in Antarctic cryogenic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1206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ENERGY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4754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ER14505 Li-SOCl₂ battery — operational down to -55 °C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Nominal 2 400 mAh; 50 % capacity derated for -50 °C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MCP1700 LDO: 1.6 µA quiescent vs 5 mA for LM7805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FireBeetle 2 ESP32-C6: 10 µA deep sleep vs 10 mA (DevKit)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Split-rail: 3.3 V always-on rail + 5 V switched sensor rail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P-MOSFET (AO3401A) power gate — GPIO-controlled sensor isolation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~22 measurement cycles/day over 365-day mission 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THERMAL 'HUDDLE'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5262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Layer 1 — Aluminium foil tape: reflects infrared radiation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Layer 2 — EWELDH010 foam: stagnant air pockets, high thermal resistance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RF window: 20 mm foil gap allows 2.4 GHz ESP-NOW signal to escape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MCP1700 regulators thermally bonded to battery stack (self-heating)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Result: internal core held at -12 °C after 6 h cold-soak at -30 °C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16.8 µA measured standby current — within 20 µA specification</a:t>
            </a:r>
          </a:p>
        </p:txBody>
      </p:sp>
      <p:pic>
        <p:nvPicPr>
          <p:cNvPr id="12" name="Picture 11" descr="page4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6263640" cy="5120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23560" y="6537960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2B3C"/>
                </a:solidFill>
                <a:latin typeface="Calibri"/>
              </a:rPr>
              <a:t>Split-rail power schematic: ER14505 battery → MCP1700 LDOs → ESP32-C6 + FRAM + Sensors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Subsystem 4 — Sensors &amp; Housing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Devon Clark  ·  Chlorophyll fluorometer, temperature, depth, waterproof PVC enclosure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12064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SENSOR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AS7341 — 11-channel spectral sensor; 445 nm excitation, 680 nm fluorescence channels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CZ104BC — 460 nm blue LED excitation (5 500–6 000 mcd); matches chlorophyll-a peak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DS18B20 — waterproof 1-Wire digital; factory-calibrated; ±0.4 °C achieved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Analog pressure sensor — 0–120 m range; R² &gt; 0.99 depth linearity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11-step PWM ramp algorithm to optimise fluorometer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69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WATERPROOF HOUSING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50 mm OD PVC pipe main body (46.8 mm ID, 250 mm length)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FDM 3D-printed PLA end caps with 4 perimeters (SLA recommended for production)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Friction-fit double O-ring seal — field serviceable, no tools required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Negatively buoyant — self-sinking with ballast weights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Waterproof to 1 m for 30 min (prototype validation)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B3C"/>
                </a:solidFill>
                <a:latin typeface="Calibri"/>
              </a:rPr>
              <a:t>•  Total system cost: &lt; R2 000  ·  Mass: &lt; 1 kg</a:t>
            </a:r>
          </a:p>
        </p:txBody>
      </p:sp>
      <p:pic>
        <p:nvPicPr>
          <p:cNvPr id="12" name="Picture 11" descr="page5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3246120" cy="5120640"/>
          </a:xfrm>
          <a:prstGeom prst="rect">
            <a:avLst/>
          </a:prstGeom>
        </p:spPr>
      </p:pic>
      <p:pic>
        <p:nvPicPr>
          <p:cNvPr id="13" name="Picture 12" descr="page5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417320"/>
            <a:ext cx="3063240" cy="5120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577840" y="653796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2B3C"/>
                </a:solidFill>
                <a:latin typeface="Calibri"/>
              </a:rPr>
              <a:t>Rear end cap (sealed side)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653796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2B3C"/>
                </a:solidFill>
                <a:latin typeface="Calibri"/>
              </a:rPr>
              <a:t>Front end cap (sensor window side)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Results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All subsystem acceptance test procedures passed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" y="1417320"/>
            <a:ext cx="28346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" y="1417320"/>
            <a:ext cx="28346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4447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Data Transfer
&amp; Visualisation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2029968"/>
            <a:ext cx="26151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1.2 % avg data error  (spec: &lt; 5 %)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8 s wake-to-advertising  (spec: &lt; 10 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100 m operational range  (spec: &gt; 10 m)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All 7 ATPs passed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Fully offline GUI operation confirmed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417320"/>
            <a:ext cx="28346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417320"/>
            <a:ext cx="28346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4447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Edge Architecture
&amp; Explainable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029968"/>
            <a:ext cx="26151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FRAM data intact across all deep sleep cycles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4-state lifecycle validated via HITL serial telemetry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92 % XAI classification accuracy, 0 false positives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0.008 s inference per record  (spec: &lt; 2 s)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All 4 ATPs passed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472" y="1417320"/>
            <a:ext cx="28346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62472" y="1417320"/>
            <a:ext cx="28346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14447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Power &amp; Thermal
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029968"/>
            <a:ext cx="26151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16.8 µA measured standby  (spec: ≤ 20 µA)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-12 °C core after 6 h cold-soak at -30 °C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3.3 V &amp; 5.0 V rails stable across full discharge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P-MOSFET gate: sensor current drops to 0 µA on GPIO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All 5 ATPs passed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264" y="1417320"/>
            <a:ext cx="28346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1417320"/>
            <a:ext cx="283464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14447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Sensors
&amp; Housing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029968"/>
            <a:ext cx="261518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Fluorescence ratio monotonically increases down to 1/32 dilution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Temperature accuracy ±0.4 °C  (spec: ±0.5 °C)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Depth linearity R² &gt; 0.99  (spec: R² &gt; 0.99)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Waterproof at 1 m for 30 min — no ingress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1A2B3C"/>
                </a:solidFill>
                <a:latin typeface="Calibri"/>
              </a:rPr>
              <a:t>•  All 8 ATPs passed  ·  Total cost &lt; R2 000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41148"/>
          </a:xfrm>
          <a:prstGeom prst="rect">
            <a:avLst/>
          </a:prstGeom>
          <a:solidFill>
            <a:srgbClr val="00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6E0"/>
                </a:solidFill>
                <a:latin typeface="Calibri"/>
              </a:rPr>
              <a:t>A functional, integrated Antarctic monitoring system demonstrated across all four subsystems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57784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B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B8"/>
                </a:solidFill>
                <a:latin typeface="Calibri"/>
              </a:rPr>
              <a:t>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A fully integrated bipartite probe system was designed and demonstrated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Sensor data is acquired, stored in FRAM, and wirelessly offloaded to a laptop GUI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ML-based anomaly detection operates entirely offline on standard hardware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System is hand-deployable by one non-specialist from a vessel of opportunity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Annual autonomy validated through energy modelling and cold-soak testing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Total cost within R2 000 budget; fits within 50 mm OD PVC housing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All 24 acceptance test procedures across four subsystems passed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577840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545"/>
                </a:solidFill>
                <a:latin typeface="Calibri"/>
              </a:rPr>
              <a:t>FUTURE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83664"/>
            <a:ext cx="5212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Migrate to BLE once ESP32-C6 NimBLE stack matures (remove dongle requirement)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SLA resin end caps for long-term immersion (replace FDM PLA)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Absolute chlorophyll calibration using field samples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Extend depth rating beyond 2 m prototype limit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Add dissolved oxygen &amp; nutrient sensors within revised budget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LoRaWAN / NVIS relay from docking station to mainland research facility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B3C"/>
                </a:solidFill>
                <a:latin typeface="Calibri"/>
              </a:rPr>
              <a:t>•  Satellite uplink for real-time data access during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